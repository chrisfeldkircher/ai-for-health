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722" r:id="rId2"/>
    <p:sldMasterId id="2147483668" r:id="rId3"/>
    <p:sldMasterId id="2147483674" r:id="rId4"/>
    <p:sldMasterId id="2147483648" r:id="rId5"/>
    <p:sldMasterId id="2147483684" r:id="rId6"/>
    <p:sldMasterId id="2147483697" r:id="rId7"/>
  </p:sldMasterIdLst>
  <p:notesMasterIdLst>
    <p:notesMasterId r:id="rId35"/>
  </p:notesMasterIdLst>
  <p:handoutMasterIdLst>
    <p:handoutMasterId r:id="rId36"/>
  </p:handoutMasterIdLst>
  <p:sldIdLst>
    <p:sldId id="256" r:id="rId15"/>
    <p:sldId id="257" r:id="rId16"/>
    <p:sldId id="258" r:id="rId17"/>
    <p:sldId id="259" r:id="rId18"/>
    <p:sldId id="260" r:id="rId19"/>
    <p:sldId id="261" r:id="rId20"/>
    <p:sldId id="262" r:id="rId21"/>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4" userDrawn="1">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98C6EA"/>
    <a:srgbClr val="00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CF61DF-608A-4863-8EEB-B13EAF41BFD5}" v="328" dt="2020-10-04T01:50:20.975"/>
  </p1510:revLst>
</p1510:revInfo>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39" autoAdjust="0"/>
    <p:restoredTop sz="88272" autoAdjust="0"/>
  </p:normalViewPr>
  <p:slideViewPr>
    <p:cSldViewPr snapToGrid="0">
      <p:cViewPr varScale="1">
        <p:scale>
          <a:sx n="58" d="100"/>
          <a:sy n="58" d="100"/>
        </p:scale>
        <p:origin x="62" y="62"/>
      </p:cViewPr>
      <p:guideLst>
        <p:guide orient="horz" pos="2164"/>
        <p:guide pos="2880"/>
        <p:guide orient="horz" pos="16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35" Type="http://schemas.openxmlformats.org/officeDocument/2006/relationships/notesMaster" Target="notesMasters/notesMaster1.xml"/><Relationship Id="rId36" Type="http://schemas.openxmlformats.org/officeDocument/2006/relationships/handoutMaster" Target="handoutMasters/handout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26/10/2022</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26/10/2022</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submitted our system to the ComParE 2017 Cold task. It scored UAR 0.62 on the hidden test, below what our own validation predicted. I will cover what we used, what went wrong, why, and what we change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rebuilt the 2017 late fusion with a modern backbone. Frozen WavLM with audit-weighted pooling, two handcrafted groups fused on top, five seeds averaged, one threshold tuned on a dev split. On that split we matched the published baseline.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hidden test we got 0.62. Our own validation said 0.69, and the result sits below every dev fold we measured. Precision on cold is 14 percent. We checked the run five ways and it is byte for byte correct, so this is not a bug. It is a generalization gap.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easy story is that we call cold too often. But at our threshold the cold-call rate is about 42 percent on dev too, so the rate is matched. Hold it matched and look at recall: on test it is below every dev fold, on both classes. At a fixed call rate that is a ranking loss, and no threshold change fixes a ranking loss.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folds are speaker-disjoint, but they all come from one speaker pool. The hidden test is a different population. The cold direction we learned leans on speaker traits from our pool and transfers worse. Folds drawn from the same pool cannot measure that gap.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ruled out the cheap fixes by measurement. Two real options. One, report this as the ceiling of a frozen backbone, which our protocol already flagged. Two, unfreeze the top layers and train with speaker-stratified batches so the cold cue depends less on who is talking. We pick on the dev folds first.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for the baseline, the backbone, the frozen-representation paradigm, and the speaker-confound 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3DC659F7-0024-9FCB-D753-C693EDA7779B}"/>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3981830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858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2" name="Textfeld 10">
            <a:extLst>
              <a:ext uri="{FF2B5EF4-FFF2-40B4-BE49-F238E27FC236}">
                <a16:creationId xmlns:a16="http://schemas.microsoft.com/office/drawing/2014/main" id="{154976A3-D458-EBF9-B242-F3440F1111AF}"/>
              </a:ext>
            </a:extLst>
          </p:cNvPr>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dirty="0">
                <a:solidFill>
                  <a:schemeClr val="bg1"/>
                </a:solidFill>
                <a:latin typeface="+mn-lt"/>
              </a:rPr>
              <a:t>Chair of High-Power Converter Systems</a:t>
            </a:r>
            <a:endParaRPr lang="de-DE" sz="800" kern="1200" dirty="0">
              <a:solidFill>
                <a:schemeClr val="bg1"/>
              </a:solidFill>
              <a:latin typeface="+mn-lt"/>
              <a:ea typeface="+mn-ea"/>
              <a:cs typeface="Arial" charset="0"/>
            </a:endParaRPr>
          </a:p>
          <a:p>
            <a:pPr>
              <a:lnSpc>
                <a:spcPts val="900"/>
              </a:lnSpc>
            </a:pPr>
            <a:r>
              <a:rPr lang="en-US" sz="800" kern="1200" dirty="0">
                <a:solidFill>
                  <a:schemeClr val="bg1"/>
                </a:solidFill>
                <a:latin typeface="+mn-lt"/>
                <a:ea typeface="+mn-ea"/>
                <a:cs typeface="Arial" charset="0"/>
              </a:rPr>
              <a:t>TUM School of Engineering and Design</a:t>
            </a:r>
            <a:endParaRPr lang="de-DE" sz="800" kern="1200" dirty="0">
              <a:solidFill>
                <a:schemeClr val="bg1"/>
              </a:solidFill>
              <a:latin typeface="+mn-lt"/>
              <a:ea typeface="+mn-ea"/>
              <a:cs typeface="Arial" charset="0"/>
            </a:endParaRPr>
          </a:p>
          <a:p>
            <a:pPr>
              <a:lnSpc>
                <a:spcPts val="900"/>
              </a:lnSpc>
            </a:pPr>
            <a:r>
              <a:rPr lang="de-DE" sz="800" baseline="0" dirty="0">
                <a:solidFill>
                  <a:schemeClr val="bg1"/>
                </a:solidFill>
                <a:latin typeface="+mn-lt"/>
              </a:rPr>
              <a:t>Technical University of Munich</a:t>
            </a:r>
            <a:endParaRPr lang="de-DE" sz="800" dirty="0">
              <a:solidFill>
                <a:schemeClr val="bg1"/>
              </a:solidFill>
              <a:latin typeface="+mn-lt"/>
            </a:endParaRPr>
          </a:p>
        </p:txBody>
      </p:sp>
    </p:spTree>
    <p:extLst>
      <p:ext uri="{BB962C8B-B14F-4D97-AF65-F5344CB8AC3E}">
        <p14:creationId xmlns:p14="http://schemas.microsoft.com/office/powerpoint/2010/main" val="1390414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186CB456-4823-F0CE-7635-2DF9E971C75F}"/>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660424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a:t>
            </a:fld>
            <a:endParaRPr lang="de-DE" dirty="0"/>
          </a:p>
        </p:txBody>
      </p:sp>
      <p:sp>
        <p:nvSpPr>
          <p:cNvPr id="9" name="Titel 1">
            <a:extLst>
              <a:ext uri="{FF2B5EF4-FFF2-40B4-BE49-F238E27FC236}">
                <a16:creationId xmlns:a16="http://schemas.microsoft.com/office/drawing/2014/main" id="{05AABF3B-2112-4303-BACC-C389E81E7384}"/>
              </a:ext>
            </a:extLst>
          </p:cNvPr>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Tree>
    <p:extLst>
      <p:ext uri="{BB962C8B-B14F-4D97-AF65-F5344CB8AC3E}">
        <p14:creationId xmlns:p14="http://schemas.microsoft.com/office/powerpoint/2010/main" val="17185509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9" name="Text Placeholder 18">
            <a:extLst>
              <a:ext uri="{FF2B5EF4-FFF2-40B4-BE49-F238E27FC236}">
                <a16:creationId xmlns:a16="http://schemas.microsoft.com/office/drawing/2014/main" id="{740E7229-04EE-4764-BC7E-F87916F4FA64}"/>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307266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0912513-725A-7B3D-7236-D9DF537BD47D}"/>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66090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506687"/>
            <a:ext cx="8508999" cy="317961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1161" y="936839"/>
            <a:ext cx="8508999" cy="49768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2731150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93133E1-5289-7056-E483-775294333E78}"/>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855147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4403057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E9EB89DB-0FCB-44DF-1F96-9A2EDDD7D265}"/>
              </a:ext>
            </a:extLst>
          </p:cNvPr>
          <p:cNvSpPr>
            <a:spLocks noGrp="1"/>
          </p:cNvSpPr>
          <p:nvPr>
            <p:ph type="body" sz="quarter" idx="18"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34629014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0068467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9AEF4677-339F-8CA2-B0ED-473D9EA817FC}"/>
              </a:ext>
            </a:extLst>
          </p:cNvPr>
          <p:cNvSpPr>
            <a:spLocks noGrp="1"/>
          </p:cNvSpPr>
          <p:nvPr>
            <p:ph type="body" sz="quarter" idx="19"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10456574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B396E02D-F2E0-1B1F-A258-256C442E5359}"/>
              </a:ext>
            </a:extLst>
          </p:cNvPr>
          <p:cNvSpPr>
            <a:spLocks noGrp="1"/>
          </p:cNvSpPr>
          <p:nvPr>
            <p:ph type="body" sz="quarter" idx="20"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1771076"/>
            <a:ext cx="9144000" cy="337242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702900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5FE9A9B3-89BF-F3DC-FA80-DEDD36A47285}"/>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611215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FB6134F2-2761-390F-47D1-C1565FBC87CA}"/>
              </a:ext>
            </a:extLst>
          </p:cNvPr>
          <p:cNvSpPr>
            <a:spLocks noGrp="1"/>
          </p:cNvSpPr>
          <p:nvPr>
            <p:ph type="body" sz="quarter" idx="17"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42579873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2878373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theme" Target="../theme/theme3.xml"/><Relationship Id="rId4" Type="http://schemas.openxmlformats.org/officeDocument/2006/relationships/image" Target="../media/image3.jpeg"/><Relationship Id="rId5" Type="http://schemas.openxmlformats.org/officeDocument/2006/relationships/image" Target="../media/image4.e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theme" Target="../theme/theme4.xml"/><Relationship Id="rId4" Type="http://schemas.openxmlformats.org/officeDocument/2006/relationships/image" Target="../media/image1.wmf"/></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slideLayout" Target="../slideLayouts/slideLayout16.xml"/><Relationship Id="rId10" Type="http://schemas.openxmlformats.org/officeDocument/2006/relationships/slideLayout" Target="../slideLayouts/slideLayout17.xml"/><Relationship Id="rId11" Type="http://schemas.openxmlformats.org/officeDocument/2006/relationships/slideLayout" Target="../slideLayouts/slideLayout18.xml"/><Relationship Id="rId12" Type="http://schemas.openxmlformats.org/officeDocument/2006/relationships/slideLayout" Target="../slideLayouts/slideLayout19.xml"/><Relationship Id="rId13" Type="http://schemas.openxmlformats.org/officeDocument/2006/relationships/slideLayout" Target="../slideLayouts/slideLayout20.xml"/><Relationship Id="rId14" Type="http://schemas.openxmlformats.org/officeDocument/2006/relationships/slideLayout" Target="../slideLayouts/slideLayout21.xml"/><Relationship Id="rId15" Type="http://schemas.openxmlformats.org/officeDocument/2006/relationships/slideLayout" Target="../slideLayouts/slideLayout22.xml"/><Relationship Id="rId16" Type="http://schemas.openxmlformats.org/officeDocument/2006/relationships/slideLayout" Target="../slideLayouts/slideLayout23.xml"/><Relationship Id="rId17" Type="http://schemas.openxmlformats.org/officeDocument/2006/relationships/slideLayout" Target="../slideLayouts/slideLayout24.xml"/><Relationship Id="rId18" Type="http://schemas.openxmlformats.org/officeDocument/2006/relationships/slideLayout" Target="../slideLayouts/slideLayout25.xml"/><Relationship Id="rId19" Type="http://schemas.openxmlformats.org/officeDocument/2006/relationships/theme" Target="../theme/theme5.xml"/><Relationship Id="rId20" Type="http://schemas.openxmlformats.org/officeDocument/2006/relationships/image" Target="../media/image1.wmf"/></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6.xml"/><Relationship Id="rId3" Type="http://schemas.openxmlformats.org/officeDocument/2006/relationships/image" Target="../media/image4.emf"/></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theme" Target="../theme/theme7.xml"/><Relationship Id="rId3" Type="http://schemas.openxmlformats.org/officeDocument/2006/relationships/image" Target="../media/image4.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pic>
        <p:nvPicPr>
          <p:cNvPr id="5" name="Bild 8" descr="20150416 tum logo blau png final.png"/>
          <p:cNvPicPr>
            <a:picLocks noChangeAspect="1"/>
          </p:cNvPicPr>
          <p:nvPr userDrawn="1"/>
        </p:nvPicPr>
        <p:blipFill>
          <a:blip r:embed="rId4"/>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65" r:id="rId2"/>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966230"/>
      </p:ext>
    </p:extLst>
  </p:cSld>
  <p:clrMap bg1="lt1" tx1="dk1" bg2="lt2" tx2="dk2" accent1="accent1" accent2="accent2" accent3="accent3" accent4="accent4" accent5="accent5" accent6="accent6" hlink="hlink" folHlink="folHlink"/>
  <p:sldLayoutIdLst>
    <p:sldLayoutId id="214748372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a:t>
            </a:fld>
            <a:endParaRPr lang="de-DE" sz="1200" dirty="0">
              <a:latin typeface="+mn-lt"/>
              <a:cs typeface="Arial" pitchFamily="34" charset="0"/>
            </a:endParaRPr>
          </a:p>
        </p:txBody>
      </p:sp>
      <p:pic>
        <p:nvPicPr>
          <p:cNvPr id="5" name="Bild 4" descr="Fahnen_HG.jpg"/>
          <p:cNvPicPr>
            <a:picLocks noChangeAspect="1"/>
          </p:cNvPicPr>
          <p:nvPr/>
        </p:nvPicPr>
        <p:blipFill>
          <a:blip r:embed="rId4" cstate="screen"/>
          <a:srcRect l="398" t="14167" b="10833"/>
          <a:stretch>
            <a:fillRect/>
          </a:stretch>
        </p:blipFill>
        <p:spPr>
          <a:xfrm>
            <a:off x="0" y="0"/>
            <a:ext cx="9144000" cy="5143500"/>
          </a:xfrm>
          <a:prstGeom prst="rect">
            <a:avLst/>
          </a:prstGeom>
        </p:spPr>
      </p:pic>
      <p:pic>
        <p:nvPicPr>
          <p:cNvPr id="7" name="Bild 6" descr="20150416 tum logo blau png final.png"/>
          <p:cNvPicPr>
            <a:picLocks noChangeAspect="1"/>
          </p:cNvPicPr>
          <p:nvPr/>
        </p:nvPicPr>
        <p:blipFill>
          <a:blip r:embed="rId5"/>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 id="2147483724" r:id="rId2"/>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pic>
        <p:nvPicPr>
          <p:cNvPr id="7" name="Bild 6" descr="20150416 tum logo blau png final.png"/>
          <p:cNvPicPr>
            <a:picLocks noChangeAspect="1"/>
          </p:cNvPicPr>
          <p:nvPr/>
        </p:nvPicPr>
        <p:blipFill>
          <a:blip r:embed="rId4"/>
          <a:stretch>
            <a:fillRect/>
          </a:stretch>
        </p:blipFill>
        <p:spPr>
          <a:xfrm>
            <a:off x="8218411" y="324000"/>
            <a:ext cx="604774" cy="318516"/>
          </a:xfrm>
          <a:prstGeom prst="rect">
            <a:avLst/>
          </a:prstGeom>
        </p:spPr>
      </p:pic>
      <p:sp>
        <p:nvSpPr>
          <p:cNvPr id="11" name="Textfeld 10"/>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dirty="0">
                <a:solidFill>
                  <a:schemeClr val="tx2"/>
                </a:solidFill>
                <a:latin typeface="+mn-lt"/>
              </a:rPr>
              <a:t>Chair of High-Power Converter Systems</a:t>
            </a:r>
            <a:endParaRPr lang="de-DE" sz="800" kern="1200" dirty="0">
              <a:solidFill>
                <a:schemeClr val="tx2"/>
              </a:solidFill>
              <a:latin typeface="+mn-lt"/>
              <a:ea typeface="+mn-ea"/>
              <a:cs typeface="Arial" charset="0"/>
            </a:endParaRPr>
          </a:p>
          <a:p>
            <a:pPr>
              <a:lnSpc>
                <a:spcPts val="900"/>
              </a:lnSpc>
            </a:pPr>
            <a:r>
              <a:rPr lang="en-US" sz="800" kern="1200" dirty="0">
                <a:solidFill>
                  <a:schemeClr val="tx2"/>
                </a:solidFill>
                <a:latin typeface="+mn-lt"/>
                <a:ea typeface="+mn-ea"/>
                <a:cs typeface="Arial" charset="0"/>
              </a:rPr>
              <a:t>TUM School of Engineering and Design</a:t>
            </a:r>
            <a:endParaRPr lang="de-DE" sz="800" kern="1200" dirty="0">
              <a:solidFill>
                <a:schemeClr val="tx2"/>
              </a:solidFill>
              <a:latin typeface="+mn-lt"/>
              <a:ea typeface="+mn-ea"/>
              <a:cs typeface="Arial" charset="0"/>
            </a:endParaRPr>
          </a:p>
          <a:p>
            <a:pPr>
              <a:lnSpc>
                <a:spcPts val="900"/>
              </a:lnSpc>
            </a:pPr>
            <a:r>
              <a:rPr lang="de-DE" sz="800" baseline="0" dirty="0">
                <a:solidFill>
                  <a:schemeClr val="tx2"/>
                </a:solidFill>
                <a:latin typeface="+mn-lt"/>
              </a:rPr>
              <a:t>Technical University of Munich</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20"/>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6"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16" r:id="rId3"/>
    <p:sldLayoutId id="2147483704" r:id="rId4"/>
    <p:sldLayoutId id="2147483714" r:id="rId5"/>
    <p:sldLayoutId id="2147483713" r:id="rId6"/>
    <p:sldLayoutId id="2147483712" r:id="rId7"/>
    <p:sldLayoutId id="2147483715" r:id="rId8"/>
    <p:sldLayoutId id="2147483657" r:id="rId9"/>
    <p:sldLayoutId id="2147483717" r:id="rId10"/>
    <p:sldLayoutId id="2147483711" r:id="rId11"/>
    <p:sldLayoutId id="2147483718" r:id="rId12"/>
    <p:sldLayoutId id="2147483703" r:id="rId13"/>
    <p:sldLayoutId id="2147483719" r:id="rId14"/>
    <p:sldLayoutId id="2147483653" r:id="rId15"/>
    <p:sldLayoutId id="2147483721" r:id="rId16"/>
    <p:sldLayoutId id="2147483656" r:id="rId17"/>
    <p:sldLayoutId id="2147483720" r:id="rId18"/>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7"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8"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03359"/>
                </a:solidFill>
              </a:rPr>
              <a:t>URTIC Cold Detection: mid-term result and plan</a:t>
            </a:r>
          </a:p>
        </p:txBody>
      </p:sp>
      <p:sp>
        <p:nvSpPr>
          <p:cNvPr id="3" name="Content Placeholder 2"/>
          <p:cNvSpPr>
            <a:spLocks noGrp="1"/>
          </p:cNvSpPr>
          <p:nvPr>
            <p:ph idx="10"/>
          </p:nvPr>
        </p:nvSpPr>
        <p:spPr/>
        <p:txBody>
          <a:bodyPr/>
          <a:lstStyle/>
          <a:p>
            <a:r>
              <a:rPr sz="1500">
                <a:solidFill>
                  <a:srgbClr val="3C3C3C"/>
                </a:solidFill>
              </a:rPr>
              <a:t>Christoph Feldkircher, ___ Lee, ___ Chouksey</a:t>
            </a:r>
          </a:p>
          <a:p>
            <a:r>
              <a:rPr sz="1300">
                <a:solidFill>
                  <a:srgbClr val="3C3C3C"/>
                </a:solidFill>
              </a:rPr>
              <a:t/>
            </a:r>
          </a:p>
          <a:p>
            <a:r>
              <a:rPr sz="1300">
                <a:solidFill>
                  <a:srgbClr val="3C3C3C"/>
                </a:solidFill>
              </a:rPr>
              <a:t>ML4Health SS26, Technical University of Munich</a:t>
            </a:r>
          </a:p>
          <a:p>
            <a:r>
              <a:rPr sz="1300">
                <a:solidFill>
                  <a:srgbClr val="3C3C3C"/>
                </a:solidFill>
              </a:rPr>
              <a:t>June 2026</a:t>
            </a:r>
          </a:p>
        </p:txBody>
      </p:sp>
      <p:sp>
        <p:nvSpPr>
          <p:cNvPr id="4" name="TextBox 3"/>
          <p:cNvSpPr txBox="1"/>
          <p:nvPr/>
        </p:nvSpPr>
        <p:spPr>
          <a:xfrm>
            <a:off x="310896" y="4855464"/>
            <a:ext cx="7863840" cy="274320"/>
          </a:xfrm>
          <a:prstGeom prst="rect">
            <a:avLst/>
          </a:prstGeom>
          <a:solidFill>
            <a:srgbClr val="FFFFFF"/>
          </a:solidFill>
          <a:ln>
            <a:noFill/>
          </a:ln>
        </p:spPr>
        <p:txBody>
          <a:bodyPr wrap="none" lIns="0" rIns="0" tIns="0" bIns="0">
            <a:spAutoFit/>
          </a:bodyPr>
          <a:lstStyle/>
          <a:p>
            <a:r>
              <a:rPr sz="900">
                <a:solidFill>
                  <a:srgbClr val="6E6E6E"/>
                </a:solidFill>
              </a:rPr>
              <a:t>Feldkircher, Lee, Chouksey  |  ML4Health SS26, TUM  |  URTIC Cold Detection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8" sz="quarter"/>
          </p:nvPr>
        </p:nvSpPr>
        <p:spPr/>
        <p:txBody>
          <a:bodyPr/>
          <a:lstStyle/>
          <a:p/>
        </p:txBody>
      </p:sp>
      <p:sp>
        <p:nvSpPr>
          <p:cNvPr id="4" name="Title 3"/>
          <p:cNvSpPr>
            <a:spLocks noGrp="1"/>
          </p:cNvSpPr>
          <p:nvPr>
            <p:ph type="title"/>
          </p:nvPr>
        </p:nvSpPr>
        <p:spPr/>
        <p:txBody>
          <a:bodyPr/>
          <a:lstStyle/>
          <a:p>
            <a:r>
              <a:rPr sz="2200" b="1">
                <a:solidFill>
                  <a:srgbClr val="000000"/>
                </a:solidFill>
              </a:rPr>
              <a:t>What we used</a:t>
            </a:r>
          </a:p>
        </p:txBody>
      </p:sp>
      <p:pic>
        <p:nvPicPr>
          <p:cNvPr id="5" name="Picture 4" descr="fig6_architecture.png"/>
          <p:cNvPicPr>
            <a:picLocks noChangeAspect="1"/>
          </p:cNvPicPr>
          <p:nvPr/>
        </p:nvPicPr>
        <p:blipFill>
          <a:blip r:embed="rId2"/>
          <a:stretch>
            <a:fillRect/>
          </a:stretch>
        </p:blipFill>
        <p:spPr>
          <a:xfrm>
            <a:off x="228600" y="960120"/>
            <a:ext cx="8686800" cy="2530267"/>
          </a:xfrm>
          <a:prstGeom prst="rect">
            <a:avLst/>
          </a:prstGeom>
        </p:spPr>
      </p:pic>
      <p:sp>
        <p:nvSpPr>
          <p:cNvPr id="6" name="TextBox 5"/>
          <p:cNvSpPr txBox="1"/>
          <p:nvPr/>
        </p:nvSpPr>
        <p:spPr>
          <a:xfrm>
            <a:off x="310896" y="4855464"/>
            <a:ext cx="7863840" cy="274320"/>
          </a:xfrm>
          <a:prstGeom prst="rect">
            <a:avLst/>
          </a:prstGeom>
          <a:solidFill>
            <a:srgbClr val="FFFFFF"/>
          </a:solidFill>
          <a:ln>
            <a:noFill/>
          </a:ln>
        </p:spPr>
        <p:txBody>
          <a:bodyPr wrap="none" lIns="0" rIns="0" tIns="0" bIns="0">
            <a:spAutoFit/>
          </a:bodyPr>
          <a:lstStyle/>
          <a:p>
            <a:r>
              <a:rPr sz="900">
                <a:solidFill>
                  <a:srgbClr val="6E6E6E"/>
                </a:solidFill>
              </a:rPr>
              <a:t>Feldkircher, Lee, Chouksey  |  ML4Health SS26, TUM  |  URTIC Cold Detection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8" sz="quarter"/>
          </p:nvPr>
        </p:nvSpPr>
        <p:spPr/>
        <p:txBody>
          <a:bodyPr/>
          <a:lstStyle/>
          <a:p/>
        </p:txBody>
      </p:sp>
      <p:sp>
        <p:nvSpPr>
          <p:cNvPr id="4" name="Title 3"/>
          <p:cNvSpPr>
            <a:spLocks noGrp="1"/>
          </p:cNvSpPr>
          <p:nvPr>
            <p:ph type="title"/>
          </p:nvPr>
        </p:nvSpPr>
        <p:spPr/>
        <p:txBody>
          <a:bodyPr/>
          <a:lstStyle/>
          <a:p>
            <a:r>
              <a:rPr sz="2200" b="1">
                <a:solidFill>
                  <a:srgbClr val="000000"/>
                </a:solidFill>
              </a:rPr>
              <a:t>What went wrong</a:t>
            </a:r>
          </a:p>
        </p:txBody>
      </p:sp>
      <p:pic>
        <p:nvPicPr>
          <p:cNvPr id="5" name="Picture 4" descr="fig1_confusion_matrix.png"/>
          <p:cNvPicPr>
            <a:picLocks noChangeAspect="1"/>
          </p:cNvPicPr>
          <p:nvPr/>
        </p:nvPicPr>
        <p:blipFill>
          <a:blip r:embed="rId2"/>
          <a:stretch>
            <a:fillRect/>
          </a:stretch>
        </p:blipFill>
        <p:spPr>
          <a:xfrm>
            <a:off x="1303987" y="960120"/>
            <a:ext cx="6536025" cy="3703320"/>
          </a:xfrm>
          <a:prstGeom prst="rect">
            <a:avLst/>
          </a:prstGeom>
        </p:spPr>
      </p:pic>
      <p:sp>
        <p:nvSpPr>
          <p:cNvPr id="6" name="TextBox 5"/>
          <p:cNvSpPr txBox="1"/>
          <p:nvPr/>
        </p:nvSpPr>
        <p:spPr>
          <a:xfrm>
            <a:off x="310896" y="4855464"/>
            <a:ext cx="7863840" cy="274320"/>
          </a:xfrm>
          <a:prstGeom prst="rect">
            <a:avLst/>
          </a:prstGeom>
          <a:solidFill>
            <a:srgbClr val="FFFFFF"/>
          </a:solidFill>
          <a:ln>
            <a:noFill/>
          </a:ln>
        </p:spPr>
        <p:txBody>
          <a:bodyPr wrap="none" lIns="0" rIns="0" tIns="0" bIns="0">
            <a:spAutoFit/>
          </a:bodyPr>
          <a:lstStyle/>
          <a:p>
            <a:r>
              <a:rPr sz="900">
                <a:solidFill>
                  <a:srgbClr val="6E6E6E"/>
                </a:solidFill>
              </a:rPr>
              <a:t>Feldkircher, Lee, Chouksey  |  ML4Health SS26, TUM  |  URTIC Cold Detection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8" sz="quarter"/>
          </p:nvPr>
        </p:nvSpPr>
        <p:spPr/>
        <p:txBody>
          <a:bodyPr/>
          <a:lstStyle/>
          <a:p/>
        </p:txBody>
      </p:sp>
      <p:sp>
        <p:nvSpPr>
          <p:cNvPr id="4" name="Title 3"/>
          <p:cNvSpPr>
            <a:spLocks noGrp="1"/>
          </p:cNvSpPr>
          <p:nvPr>
            <p:ph type="title"/>
          </p:nvPr>
        </p:nvSpPr>
        <p:spPr/>
        <p:txBody>
          <a:bodyPr/>
          <a:lstStyle/>
          <a:p>
            <a:r>
              <a:rPr sz="2200" b="1">
                <a:solidFill>
                  <a:srgbClr val="000000"/>
                </a:solidFill>
              </a:rPr>
              <a:t>The problem is the ranking, not the threshold</a:t>
            </a:r>
          </a:p>
        </p:txBody>
      </p:sp>
      <p:pic>
        <p:nvPicPr>
          <p:cNvPr id="5" name="Picture 4" descr="fig8_recall_below_shadow.png"/>
          <p:cNvPicPr>
            <a:picLocks noChangeAspect="1"/>
          </p:cNvPicPr>
          <p:nvPr/>
        </p:nvPicPr>
        <p:blipFill>
          <a:blip r:embed="rId2"/>
          <a:stretch>
            <a:fillRect/>
          </a:stretch>
        </p:blipFill>
        <p:spPr>
          <a:xfrm>
            <a:off x="922828" y="960120"/>
            <a:ext cx="7298342" cy="3703320"/>
          </a:xfrm>
          <a:prstGeom prst="rect">
            <a:avLst/>
          </a:prstGeom>
        </p:spPr>
      </p:pic>
      <p:sp>
        <p:nvSpPr>
          <p:cNvPr id="6" name="TextBox 5"/>
          <p:cNvSpPr txBox="1"/>
          <p:nvPr/>
        </p:nvSpPr>
        <p:spPr>
          <a:xfrm>
            <a:off x="310896" y="4855464"/>
            <a:ext cx="7863840" cy="274320"/>
          </a:xfrm>
          <a:prstGeom prst="rect">
            <a:avLst/>
          </a:prstGeom>
          <a:solidFill>
            <a:srgbClr val="FFFFFF"/>
          </a:solidFill>
          <a:ln>
            <a:noFill/>
          </a:ln>
        </p:spPr>
        <p:txBody>
          <a:bodyPr wrap="none" lIns="0" rIns="0" tIns="0" bIns="0">
            <a:spAutoFit/>
          </a:bodyPr>
          <a:lstStyle/>
          <a:p>
            <a:r>
              <a:rPr sz="900">
                <a:solidFill>
                  <a:srgbClr val="6E6E6E"/>
                </a:solidFill>
              </a:rPr>
              <a:t>Feldkircher, Lee, Chouksey  |  ML4Health SS26, TUM  |  URTIC Cold Detection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8" sz="quarter"/>
          </p:nvPr>
        </p:nvSpPr>
        <p:spPr/>
        <p:txBody>
          <a:bodyPr/>
          <a:lstStyle/>
          <a:p/>
        </p:txBody>
      </p:sp>
      <p:sp>
        <p:nvSpPr>
          <p:cNvPr id="4" name="Title 3"/>
          <p:cNvSpPr>
            <a:spLocks noGrp="1"/>
          </p:cNvSpPr>
          <p:nvPr>
            <p:ph type="title"/>
          </p:nvPr>
        </p:nvSpPr>
        <p:spPr/>
        <p:txBody>
          <a:bodyPr/>
          <a:lstStyle/>
          <a:p>
            <a:r>
              <a:rPr sz="2200" b="1">
                <a:solidFill>
                  <a:srgbClr val="000000"/>
                </a:solidFill>
              </a:rPr>
              <a:t>Why our dev folds did not catch it</a:t>
            </a:r>
          </a:p>
        </p:txBody>
      </p:sp>
      <p:pic>
        <p:nvPicPr>
          <p:cNvPr id="5" name="Picture 4" descr="fig10_pool_shift.png"/>
          <p:cNvPicPr>
            <a:picLocks noChangeAspect="1"/>
          </p:cNvPicPr>
          <p:nvPr/>
        </p:nvPicPr>
        <p:blipFill>
          <a:blip r:embed="rId2"/>
          <a:stretch>
            <a:fillRect/>
          </a:stretch>
        </p:blipFill>
        <p:spPr>
          <a:xfrm>
            <a:off x="228600" y="960120"/>
            <a:ext cx="8686800" cy="3184181"/>
          </a:xfrm>
          <a:prstGeom prst="rect">
            <a:avLst/>
          </a:prstGeom>
        </p:spPr>
      </p:pic>
      <p:sp>
        <p:nvSpPr>
          <p:cNvPr id="6" name="TextBox 5"/>
          <p:cNvSpPr txBox="1"/>
          <p:nvPr/>
        </p:nvSpPr>
        <p:spPr>
          <a:xfrm>
            <a:off x="310896" y="4855464"/>
            <a:ext cx="7863840" cy="274320"/>
          </a:xfrm>
          <a:prstGeom prst="rect">
            <a:avLst/>
          </a:prstGeom>
          <a:solidFill>
            <a:srgbClr val="FFFFFF"/>
          </a:solidFill>
          <a:ln>
            <a:noFill/>
          </a:ln>
        </p:spPr>
        <p:txBody>
          <a:bodyPr wrap="none" lIns="0" rIns="0" tIns="0" bIns="0">
            <a:spAutoFit/>
          </a:bodyPr>
          <a:lstStyle/>
          <a:p>
            <a:r>
              <a:rPr sz="900">
                <a:solidFill>
                  <a:srgbClr val="6E6E6E"/>
                </a:solidFill>
              </a:rPr>
              <a:t>Feldkircher, Lee, Chouksey  |  ML4Health SS26, TUM  |  URTIC Cold Detection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8" sz="quarter"/>
          </p:nvPr>
        </p:nvSpPr>
        <p:spPr/>
        <p:txBody>
          <a:bodyPr/>
          <a:lstStyle/>
          <a:p/>
        </p:txBody>
      </p:sp>
      <p:sp>
        <p:nvSpPr>
          <p:cNvPr id="4" name="Title 3"/>
          <p:cNvSpPr>
            <a:spLocks noGrp="1"/>
          </p:cNvSpPr>
          <p:nvPr>
            <p:ph type="title"/>
          </p:nvPr>
        </p:nvSpPr>
        <p:spPr/>
        <p:txBody>
          <a:bodyPr/>
          <a:lstStyle/>
          <a:p>
            <a:r>
              <a:rPr sz="2200" b="1">
                <a:solidFill>
                  <a:srgbClr val="000000"/>
                </a:solidFill>
              </a:rPr>
              <a:t>What we change next</a:t>
            </a:r>
          </a:p>
        </p:txBody>
      </p:sp>
      <p:pic>
        <p:nvPicPr>
          <p:cNvPr id="5" name="Picture 4" descr="fig9_what_we_change.png"/>
          <p:cNvPicPr>
            <a:picLocks noChangeAspect="1"/>
          </p:cNvPicPr>
          <p:nvPr/>
        </p:nvPicPr>
        <p:blipFill>
          <a:blip r:embed="rId2"/>
          <a:stretch>
            <a:fillRect/>
          </a:stretch>
        </p:blipFill>
        <p:spPr>
          <a:xfrm>
            <a:off x="228600" y="960120"/>
            <a:ext cx="8686800" cy="3336744"/>
          </a:xfrm>
          <a:prstGeom prst="rect">
            <a:avLst/>
          </a:prstGeom>
        </p:spPr>
      </p:pic>
      <p:sp>
        <p:nvSpPr>
          <p:cNvPr id="6" name="TextBox 5"/>
          <p:cNvSpPr txBox="1"/>
          <p:nvPr/>
        </p:nvSpPr>
        <p:spPr>
          <a:xfrm>
            <a:off x="310896" y="4855464"/>
            <a:ext cx="7863840" cy="274320"/>
          </a:xfrm>
          <a:prstGeom prst="rect">
            <a:avLst/>
          </a:prstGeom>
          <a:solidFill>
            <a:srgbClr val="FFFFFF"/>
          </a:solidFill>
          <a:ln>
            <a:noFill/>
          </a:ln>
        </p:spPr>
        <p:txBody>
          <a:bodyPr wrap="none" lIns="0" rIns="0" tIns="0" bIns="0">
            <a:spAutoFit/>
          </a:bodyPr>
          <a:lstStyle/>
          <a:p>
            <a:r>
              <a:rPr sz="900">
                <a:solidFill>
                  <a:srgbClr val="6E6E6E"/>
                </a:solidFill>
              </a:rPr>
              <a:t>Feldkircher, Lee, Chouksey  |  ML4Health SS26, TUM  |  URTIC Cold Detection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r>
              <a:rPr sz="1300">
                <a:solidFill>
                  <a:srgbClr val="141414"/>
                </a:solidFill>
              </a:rPr>
              <a:t>Schuller et al. The INTERSPEECH 2017 Computational Paralinguistics Challenge: Addressee, Cold and Snoring. Interspeech 2017.</a:t>
            </a:r>
          </a:p>
          <a:p>
            <a:pPr/>
            <a:r>
              <a:rPr sz="1300">
                <a:solidFill>
                  <a:srgbClr val="141414"/>
                </a:solidFill>
              </a:rPr>
              <a:t>Chen et al. WavLM: Large-Scale Self-Supervised Pre-Training for Full Stack Speech Processing. IEEE JSTSP, 2022.</a:t>
            </a:r>
          </a:p>
          <a:p>
            <a:pPr/>
            <a:r>
              <a:rPr sz="1300">
                <a:solidFill>
                  <a:srgbClr val="141414"/>
                </a:solidFill>
              </a:rPr>
              <a:t>Yang et al. SUPERB: Speech processing Universal PERformance Benchmark. Interspeech 2021.</a:t>
            </a:r>
          </a:p>
          <a:p>
            <a:pPr/>
            <a:r>
              <a:rPr sz="1300">
                <a:solidFill>
                  <a:srgbClr val="141414"/>
                </a:solidFill>
              </a:rPr>
              <a:t>Coppock, Jones, Kiskin, Schuller. COVID-19 detection from audio: seven grains of salt. Lancet Digital Health, 2021.</a:t>
            </a:r>
          </a:p>
        </p:txBody>
      </p:sp>
      <p:sp>
        <p:nvSpPr>
          <p:cNvPr id="3" name="Title 2"/>
          <p:cNvSpPr>
            <a:spLocks noGrp="1"/>
          </p:cNvSpPr>
          <p:nvPr>
            <p:ph type="title"/>
          </p:nvPr>
        </p:nvSpPr>
        <p:spPr/>
        <p:txBody>
          <a:bodyPr/>
          <a:lstStyle/>
          <a:p>
            <a:r>
              <a:rPr sz="2200" b="1">
                <a:solidFill>
                  <a:srgbClr val="000000"/>
                </a:solidFill>
              </a:rPr>
              <a:t>References</a:t>
            </a:r>
          </a:p>
        </p:txBody>
      </p:sp>
      <p:sp>
        <p:nvSpPr>
          <p:cNvPr id="4" name="TextBox 3"/>
          <p:cNvSpPr txBox="1"/>
          <p:nvPr/>
        </p:nvSpPr>
        <p:spPr>
          <a:xfrm>
            <a:off x="310896" y="4855464"/>
            <a:ext cx="7863840" cy="274320"/>
          </a:xfrm>
          <a:prstGeom prst="rect">
            <a:avLst/>
          </a:prstGeom>
          <a:solidFill>
            <a:srgbClr val="FFFFFF"/>
          </a:solidFill>
          <a:ln>
            <a:noFill/>
          </a:ln>
        </p:spPr>
        <p:txBody>
          <a:bodyPr wrap="none" lIns="0" rIns="0" tIns="0" bIns="0">
            <a:spAutoFit/>
          </a:bodyPr>
          <a:lstStyle/>
          <a:p>
            <a:r>
              <a:rPr sz="900">
                <a:solidFill>
                  <a:srgbClr val="6E6E6E"/>
                </a:solidFill>
              </a:rPr>
              <a:t>Feldkircher, Lee, Chouksey  |  ML4Health SS26, TUM  |  URTIC Cold Detection</a:t>
            </a:r>
          </a:p>
        </p:txBody>
      </p:sp>
    </p:spTree>
  </p:cSld>
  <p:clrMapOvr>
    <a:masterClrMapping/>
  </p:clrMapOvr>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F39E7027-915F-7341-A9EA-C8CBFD2E8FA2}"/>
    </a:ext>
  </a:extLst>
</a:theme>
</file>

<file path=ppt/theme/theme2.xml><?xml version="1.0" encoding="utf-8"?>
<a:theme xmlns:a="http://schemas.openxmlformats.org/drawingml/2006/main" name="Title Blan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BD7862EB-E8D6-994B-BBF4-6CC3FFF92DD2}"/>
    </a:ext>
  </a:extLst>
</a:theme>
</file>

<file path=ppt/theme/theme4.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16AD8073-F55B-9144-802C-46456E9E217B}"/>
    </a:ext>
  </a:extLst>
</a:theme>
</file>

<file path=ppt/theme/theme5.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741D405E-8307-9B40-9F97-3F5DAC837EF3}"/>
    </a:ext>
  </a:extLst>
</a:theme>
</file>

<file path=ppt/theme/theme6.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4BFAB656-7532-6C41-9541-858AFF7D6765}"/>
    </a:ext>
  </a:extLst>
</a:theme>
</file>

<file path=ppt/theme/theme7.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A724F04A-1212-AA4C-B6F1-157BE88DDFD7}"/>
    </a:ext>
  </a:ext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TUM_Praesentation_p_v1_16-9 (5)</Template>
  <TotalTime>263</TotalTime>
  <Words>1084</Words>
  <Application>Microsoft Office PowerPoint</Application>
  <PresentationFormat>On-screen Show (16:9)</PresentationFormat>
  <Paragraphs>150</Paragraphs>
  <Slides>27</Slides>
  <Notes>1</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27</vt:i4>
      </vt:variant>
    </vt:vector>
  </HeadingPairs>
  <TitlesOfParts>
    <vt:vector size="39" baseType="lpstr">
      <vt:lpstr>Arial</vt:lpstr>
      <vt:lpstr>Calibri</vt:lpstr>
      <vt:lpstr>Courier New</vt:lpstr>
      <vt:lpstr>Symbol</vt:lpstr>
      <vt:lpstr>Wingdings</vt:lpstr>
      <vt:lpstr>Titel 1</vt:lpstr>
      <vt:lpstr>Title Blank</vt:lpstr>
      <vt:lpstr>Titel 2</vt:lpstr>
      <vt:lpstr>Titel 3</vt:lpstr>
      <vt:lpstr>Inhalt</vt:lpstr>
      <vt:lpstr>Kapiteltrenner blau</vt:lpstr>
      <vt:lpstr>Kapiteltrenner schwarz</vt:lpstr>
      <vt:lpstr>PowerPoint Presentation</vt:lpstr>
      <vt:lpstr>PowerPoint Presentation</vt:lpstr>
      <vt:lpstr>PowerPoint Presentation</vt:lpstr>
      <vt:lpstr>PowerPoint Presentation</vt:lpstr>
      <vt:lpstr>PowerPoint Presentation</vt:lpstr>
      <vt:lpstr>Title Page</vt:lpstr>
      <vt:lpstr>Contents</vt:lpstr>
      <vt:lpstr>Slide Master</vt:lpstr>
      <vt:lpstr>Gültigkeit der Masterfolien</vt:lpstr>
      <vt:lpstr>Grundlage der Masterfolien</vt:lpstr>
      <vt:lpstr>Schrift</vt:lpstr>
      <vt:lpstr>Farben</vt:lpstr>
      <vt:lpstr>Texte</vt:lpstr>
      <vt:lpstr>Bilder - Allgemein</vt:lpstr>
      <vt:lpstr>Aufzählung</vt:lpstr>
      <vt:lpstr>Bilder</vt:lpstr>
      <vt:lpstr>Bilder</vt:lpstr>
      <vt:lpstr>Bilder</vt:lpstr>
      <vt:lpstr>Bilder</vt:lpstr>
      <vt:lpstr>Bilder</vt:lpstr>
      <vt:lpstr>Nicht formatfüllende Bilder</vt:lpstr>
      <vt:lpstr>Bilder Format füllend - maximale Bildgröße</vt:lpstr>
      <vt:lpstr>Nicht Format füllende Bilder</vt:lpstr>
      <vt:lpstr>Tabelle – Beispiel 1</vt:lpstr>
      <vt:lpstr>Tabelle – Beispiel 2</vt:lpstr>
      <vt:lpstr>Diagramme – Beispiel 1</vt:lpstr>
      <vt:lpstr>Diagramme</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Wei Tian</dc:creator>
  <cp:lastModifiedBy>Wei Tian</cp:lastModifiedBy>
  <cp:revision>10</cp:revision>
  <cp:lastPrinted>2015-07-30T14:04:45Z</cp:lastPrinted>
  <dcterms:created xsi:type="dcterms:W3CDTF">2020-10-03T23:03:33Z</dcterms:created>
  <dcterms:modified xsi:type="dcterms:W3CDTF">2022-10-26T18:06:39Z</dcterms:modified>
</cp:coreProperties>
</file>