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Layouts/slideLayout26.xml" ContentType="application/vnd.openxmlformats-officedocument.presentationml.slideLayout+xml"/>
  <Override PartName="/ppt/theme/theme6.xml" ContentType="application/vnd.openxmlformats-officedocument.theme+xml"/>
  <Override PartName="/ppt/slideLayouts/slideLayout2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722" r:id="rId2"/>
    <p:sldMasterId id="2147483668" r:id="rId3"/>
    <p:sldMasterId id="2147483674" r:id="rId4"/>
    <p:sldMasterId id="2147483648" r:id="rId5"/>
    <p:sldMasterId id="2147483684" r:id="rId6"/>
    <p:sldMasterId id="2147483697" r:id="rId7"/>
  </p:sldMasterIdLst>
  <p:notesMasterIdLst>
    <p:notesMasterId r:id="rId9"/>
  </p:notesMasterIdLst>
  <p:handoutMasterIdLst>
    <p:handoutMasterId r:id="rId10"/>
  </p:handoutMasterIdLst>
  <p:sldIdLst>
    <p:sldId id="428" r:id="rId8"/>
  </p:sldIdLst>
  <p:sldSz cx="9144000" cy="5143500" type="screen16x9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CF61DF-608A-4863-8EEB-B13EAF41BFD5}" v="328" dt="2020-10-04T01:50:20.975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 autoAdjust="0"/>
    <p:restoredTop sz="88272" autoAdjust="0"/>
  </p:normalViewPr>
  <p:slideViewPr>
    <p:cSldViewPr snapToGrid="0">
      <p:cViewPr varScale="1">
        <p:scale>
          <a:sx n="170" d="100"/>
          <a:sy n="170" d="100"/>
        </p:scale>
        <p:origin x="608" y="176"/>
      </p:cViewPr>
      <p:guideLst>
        <p:guide orient="horz" pos="2164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1" d="100"/>
          <a:sy n="131" d="100"/>
        </p:scale>
        <p:origin x="-810" y="-96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microsoft.com/office/2015/10/relationships/revisionInfo" Target="revisionInfo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27/04/2026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27/04/2026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3DC659F7-0024-9FCB-D753-C693EDA77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83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1830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85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2" name="Textfeld 10">
            <a:extLst>
              <a:ext uri="{FF2B5EF4-FFF2-40B4-BE49-F238E27FC236}">
                <a16:creationId xmlns:a16="http://schemas.microsoft.com/office/drawing/2014/main" id="{154976A3-D458-EBF9-B242-F3440F1111AF}"/>
              </a:ext>
            </a:extLst>
          </p:cNvPr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bg1"/>
                </a:solidFill>
                <a:latin typeface="+mn-lt"/>
              </a:rPr>
              <a:t>Chair of High-Power Converter Systems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bg1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 dirty="0">
              <a:solidFill>
                <a:schemeClr val="bg1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bg1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041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4" descr="TUM_Glockenturm.tif">
            <a:extLst>
              <a:ext uri="{FF2B5EF4-FFF2-40B4-BE49-F238E27FC236}">
                <a16:creationId xmlns:a16="http://schemas.microsoft.com/office/drawing/2014/main" id="{186CB456-4823-F0CE-7635-2DF9E971C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75215" y="1476375"/>
            <a:ext cx="3819542" cy="3333750"/>
          </a:xfrm>
          <a:prstGeom prst="rect">
            <a:avLst/>
          </a:prstGeom>
        </p:spPr>
      </p:pic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042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4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01. Oktober 2022)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4806203"/>
            <a:ext cx="575236" cy="26894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05AABF3B-2112-4303-BACC-C389E81E73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40E7229-04EE-4764-BC7E-F87916F4F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66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0912513-725A-7B3D-7236-D9DF537BD4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85785"/>
            <a:ext cx="8508999" cy="290051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5"/>
            <a:ext cx="8508999" cy="50530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66090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506687"/>
            <a:ext cx="8508999" cy="3179614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1161" y="936839"/>
            <a:ext cx="8508999" cy="497688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731150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293133E1-5289-7056-E483-775294333E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47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222525"/>
            <a:ext cx="8508999" cy="3463775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BB05561-73C4-4A74-972B-036FE3080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40305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E9EB89DB-0FCB-44DF-1F96-9A2EDDD7D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1162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222524"/>
            <a:ext cx="4180910" cy="347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  <a:lvl2pPr>
              <a:lnSpc>
                <a:spcPct val="114000"/>
              </a:lnSpc>
              <a:defRPr lang="de-DE" sz="1400" noProof="0" dirty="0" smtClean="0"/>
            </a:lvl2pPr>
            <a:lvl3pPr>
              <a:defRPr sz="14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C820FC66-B1DF-47A9-8103-CDCC88836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0068467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9AEF4677-339F-8CA2-B0ED-473D9EA817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88333" cy="2924750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38677" y="1771077"/>
            <a:ext cx="4180392" cy="292475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82BEFDB1-C0BE-4875-BD7E-86FDD31F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45657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152650"/>
            <a:ext cx="9144000" cy="29908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B396E02D-F2E0-1B1F-A258-256C442E53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1771076"/>
            <a:ext cx="9144000" cy="337242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1771076"/>
            <a:ext cx="4197858" cy="2934274"/>
          </a:xfrm>
          <a:prstGeom prst="rect">
            <a:avLst/>
          </a:prstGeom>
        </p:spPr>
        <p:txBody>
          <a:bodyPr lIns="0" rIns="0"/>
          <a:lstStyle>
            <a:lvl1pPr>
              <a:defRPr lang="de-DE" sz="14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1400"/>
            </a:lvl2pPr>
            <a:lvl3pPr>
              <a:defRPr sz="14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648200" y="1771076"/>
            <a:ext cx="4180392" cy="291522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9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4303ED8-136B-40E2-A690-FE4668647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02900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5FE9A9B3-89BF-F3DC-FA80-DEDD36A472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de-DE" noProof="0" dirty="0"/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1771076"/>
            <a:ext cx="9144000" cy="336734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19090" y="1222524"/>
            <a:ext cx="8508999" cy="495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sz="1400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1164939-4755-42C9-9079-2B5AE284E2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1121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B6134F2-2761-390F-47D1-C1565FBC87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1161" y="684430"/>
            <a:ext cx="8508999" cy="321410"/>
          </a:xfrm>
          <a:prstGeom prst="rect">
            <a:avLst/>
          </a:prstGeom>
        </p:spPr>
        <p:txBody>
          <a:bodyPr lIns="0" tIns="93600" rIns="0" bIns="0"/>
          <a:lstStyle>
            <a:lvl1pPr marL="0" marR="0" indent="0" algn="l" defTabSz="914400" rtl="0" eaLnBrk="0" fontAlgn="base" latinLnBrk="0" hangingPunct="0">
              <a:lnSpc>
                <a:spcPts val="18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  <a:lvl3pPr marL="176213" indent="0">
              <a:buNone/>
              <a:defRPr/>
            </a:lvl3pPr>
            <a:lvl4pPr marL="360363" indent="0">
              <a:buNone/>
              <a:defRPr/>
            </a:lvl4pPr>
            <a:lvl5pPr marL="538162" indent="0">
              <a:buNone/>
              <a:defRPr/>
            </a:lvl5pPr>
          </a:lstStyle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altLang="zh-CN" sz="1800" noProof="0" dirty="0"/>
              <a:t>Untert</a:t>
            </a:r>
            <a:r>
              <a:rPr lang="de-DE" sz="1800" noProof="0" dirty="0"/>
              <a:t>itel durch Klicken bearbeiten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222524"/>
            <a:ext cx="9144000" cy="3920975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 sz="1400"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6F6AFFF9-3343-4B1B-8898-C1F255D031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162" y="293460"/>
            <a:ext cx="8508999" cy="380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287837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72000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25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emf"/><Relationship Id="rId4" Type="http://schemas.openxmlformats.org/officeDocument/2006/relationships/image" Target="../media/image3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w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image" Target="../media/image1.wmf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7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7829538" cy="28851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5" name="Bild 8" descr="20150416 tum logo blau png final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18800" y="324000"/>
            <a:ext cx="604774" cy="3185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96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4922462"/>
            <a:ext cx="1115376" cy="210507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4" cstate="screen"/>
          <a:srcRect l="398" t="14167" b="1083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24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900"/>
              </a:lnSpc>
            </a:pPr>
            <a:r>
              <a:rPr lang="en-US" sz="800" dirty="0">
                <a:solidFill>
                  <a:schemeClr val="tx2"/>
                </a:solidFill>
                <a:latin typeface="+mn-lt"/>
              </a:rPr>
              <a:t>Chair of High-Power Converter Systems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en-US" sz="800" kern="1200" dirty="0">
                <a:solidFill>
                  <a:schemeClr val="tx2"/>
                </a:solidFill>
                <a:latin typeface="+mn-lt"/>
                <a:ea typeface="+mn-ea"/>
                <a:cs typeface="Arial" charset="0"/>
              </a:rPr>
              <a:t>TUM School of Engineering and Design</a:t>
            </a:r>
            <a:endParaRPr lang="de-DE" sz="800" kern="1200" dirty="0">
              <a:solidFill>
                <a:schemeClr val="tx2"/>
              </a:solidFill>
              <a:latin typeface="+mn-lt"/>
              <a:ea typeface="+mn-ea"/>
              <a:cs typeface="Arial" charset="0"/>
            </a:endParaRPr>
          </a:p>
          <a:p>
            <a:pPr>
              <a:lnSpc>
                <a:spcPts val="900"/>
              </a:lnSpc>
            </a:pPr>
            <a:r>
              <a:rPr lang="de-DE" sz="800" baseline="0" dirty="0">
                <a:solidFill>
                  <a:schemeClr val="tx2"/>
                </a:solidFill>
                <a:latin typeface="+mn-lt"/>
              </a:rPr>
              <a:t>Technical University of Munich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18411" y="324000"/>
            <a:ext cx="604774" cy="318516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74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16" r:id="rId3"/>
    <p:sldLayoutId id="2147483704" r:id="rId4"/>
    <p:sldLayoutId id="2147483714" r:id="rId5"/>
    <p:sldLayoutId id="2147483713" r:id="rId6"/>
    <p:sldLayoutId id="2147483712" r:id="rId7"/>
    <p:sldLayoutId id="2147483715" r:id="rId8"/>
    <p:sldLayoutId id="2147483657" r:id="rId9"/>
    <p:sldLayoutId id="2147483717" r:id="rId10"/>
    <p:sldLayoutId id="2147483711" r:id="rId11"/>
    <p:sldLayoutId id="2147483718" r:id="rId12"/>
    <p:sldLayoutId id="2147483703" r:id="rId13"/>
    <p:sldLayoutId id="2147483719" r:id="rId14"/>
    <p:sldLayoutId id="2147483653" r:id="rId15"/>
    <p:sldLayoutId id="2147483721" r:id="rId16"/>
    <p:sldLayoutId id="2147483656" r:id="rId17"/>
    <p:sldLayoutId id="2147483720" r:id="rId1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5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18800" y="324000"/>
            <a:ext cx="599513" cy="320288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URTIC Cold Detection — Modernising the 2017 Fusion</a:t>
            </a:r>
          </a:p>
        </p:txBody>
      </p:sp>
      <p:sp>
        <p:nvSpPr>
          <p:cNvPr id="101" name="Bet text"/>
          <p:cNvSpPr txBox="1"/>
          <p:nvPr/>
        </p:nvSpPr>
        <p:spPr>
          <a:xfrm>
            <a:off x="311162" y="900000"/>
            <a:ext cx="8517999" cy="5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GB" sz="1400" b="1" dirty="0">
                <a:solidFill>
                  <a:srgbClr val="0065BD"/>
                </a:solidFill>
              </a:rPr>
              <a:t>The bet: </a:t>
            </a:r>
            <a:r>
              <a:rPr lang="en-GB" sz="1100" dirty="0"/>
              <a:t>beat the 2017 ComParE Cold late-fusion baseline (UAR 0.710) by modernising each pillar of the 2017 fusion and stripping the speaker-identity shortcut that quietly inflates dataset numbers. Two contributions: a higher UAR, and a speaker-invariant evaluation that quantifies how much of the 2017 score was shortcut learning.</a:t>
            </a:r>
          </a:p>
        </p:txBody>
      </p:sp>
      <p:sp>
        <p:nvSpPr>
          <p:cNvPr id="102" name="Arch header"/>
          <p:cNvSpPr txBox="1"/>
          <p:nvPr/>
        </p:nvSpPr>
        <p:spPr>
          <a:xfrm>
            <a:off x="311162" y="1500000"/>
            <a:ext cx="8517999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GB" sz="1400" b="1" dirty="0">
                <a:solidFill>
                  <a:srgbClr val="0065BD"/>
                </a:solidFill>
              </a:rPr>
              <a:t>Architecture</a:t>
            </a:r>
          </a:p>
        </p:txBody>
      </p:sp>
      <p:sp>
        <p:nvSpPr>
          <p:cNvPr id="200" name="In WavLM"/>
          <p:cNvSpPr/>
          <p:nvPr/>
        </p:nvSpPr>
        <p:spPr>
          <a:xfrm>
            <a:off x="311162" y="1820000"/>
            <a:ext cx="2400000" cy="450000"/>
          </a:xfrm>
          <a:prstGeom prst="roundRect">
            <a:avLst>
              <a:gd name="adj" fmla="val 16667"/>
            </a:avLst>
          </a:prstGeom>
          <a:solidFill>
            <a:srgbClr val="E6F0FA"/>
          </a:solidFill>
          <a:ln w="9525">
            <a:solidFill>
              <a:srgbClr val="0065BD"/>
            </a:solidFill>
          </a:ln>
        </p:spPr>
        <p:txBody>
          <a:bodyPr wrap="square" lIns="72000" tIns="36000" rIns="72000" bIns="36000" anchor="ctr"/>
          <a:lstStyle/>
          <a:p>
            <a:pPr marL="0" indent="0" algn="ctr">
              <a:buNone/>
            </a:pPr>
            <a:r>
              <a:rPr lang="en-GB" sz="1100" b="1" dirty="0">
                <a:solidFill>
                  <a:srgbClr val="0065BD"/>
                </a:solidFill>
              </a:rPr>
              <a:t>WavLM-Large</a:t>
            </a:r>
            <a:r>
              <a:rPr lang="en-GB" sz="1100" dirty="0"/>
              <a:t>  (frozen)</a:t>
            </a:r>
          </a:p>
          <a:p>
            <a:pPr marL="0" indent="0" algn="ctr">
              <a:buNone/>
            </a:pPr>
            <a:r>
              <a:rPr lang="en-GB" sz="900" dirty="0">
                <a:solidFill>
                  <a:srgbClr val="595959"/>
                </a:solidFill>
              </a:rPr>
              <a:t>layer-weighted pooled stats</a:t>
            </a:r>
          </a:p>
        </p:txBody>
      </p:sp>
      <p:sp>
        <p:nvSpPr>
          <p:cNvPr id="201" name="In HC"/>
          <p:cNvSpPr/>
          <p:nvPr/>
        </p:nvSpPr>
        <p:spPr>
          <a:xfrm>
            <a:off x="311162" y="2330000"/>
            <a:ext cx="2400000" cy="450000"/>
          </a:xfrm>
          <a:prstGeom prst="roundRect">
            <a:avLst>
              <a:gd name="adj" fmla="val 16667"/>
            </a:avLst>
          </a:prstGeom>
          <a:solidFill>
            <a:srgbClr val="E6F0FA"/>
          </a:solidFill>
          <a:ln w="9525">
            <a:solidFill>
              <a:srgbClr val="0065BD"/>
            </a:solidFill>
          </a:ln>
        </p:spPr>
        <p:txBody>
          <a:bodyPr wrap="square" lIns="72000" tIns="36000" rIns="72000" bIns="36000" anchor="ctr"/>
          <a:lstStyle/>
          <a:p>
            <a:pPr marL="0" indent="0" algn="ctr">
              <a:buNone/>
            </a:pPr>
            <a:r>
              <a:rPr lang="en-GB" sz="1100" b="1" dirty="0">
                <a:solidFill>
                  <a:srgbClr val="0065BD"/>
                </a:solidFill>
              </a:rPr>
              <a:t>Hand-crafted features</a:t>
            </a:r>
          </a:p>
          <a:p>
            <a:pPr marL="0" indent="0" algn="ctr">
              <a:buNone/>
            </a:pPr>
            <a:r>
              <a:rPr lang="en-GB" sz="900" dirty="0">
                <a:solidFill>
                  <a:srgbClr val="595959"/>
                </a:solidFill>
              </a:rPr>
              <a:t>eGeMAPS, modulation, voice-quality</a:t>
            </a:r>
          </a:p>
        </p:txBody>
      </p:sp>
      <p:sp>
        <p:nvSpPr>
          <p:cNvPr id="202" name="In Tokens"/>
          <p:cNvSpPr/>
          <p:nvPr/>
        </p:nvSpPr>
        <p:spPr>
          <a:xfrm>
            <a:off x="311162" y="2840000"/>
            <a:ext cx="2400000" cy="450000"/>
          </a:xfrm>
          <a:prstGeom prst="roundRect">
            <a:avLst>
              <a:gd name="adj" fmla="val 16667"/>
            </a:avLst>
          </a:prstGeom>
          <a:solidFill>
            <a:srgbClr val="E6F0FA"/>
          </a:solidFill>
          <a:ln w="9525">
            <a:solidFill>
              <a:srgbClr val="0065BD"/>
            </a:solidFill>
          </a:ln>
        </p:spPr>
        <p:txBody>
          <a:bodyPr wrap="square" lIns="72000" tIns="36000" rIns="72000" bIns="36000" anchor="ctr"/>
          <a:lstStyle/>
          <a:p>
            <a:pPr marL="0" indent="0" algn="ctr">
              <a:buNone/>
            </a:pPr>
            <a:r>
              <a:rPr lang="en-GB" sz="1100" b="1" dirty="0">
                <a:solidFill>
                  <a:srgbClr val="0065BD"/>
                </a:solidFill>
              </a:rPr>
              <a:t>Discrete tokens</a:t>
            </a:r>
          </a:p>
          <a:p>
            <a:pPr marL="0" indent="0" algn="ctr">
              <a:buNone/>
            </a:pPr>
            <a:r>
              <a:rPr lang="en-GB" sz="900" dirty="0">
                <a:solidFill>
                  <a:srgbClr val="595959"/>
                </a:solidFill>
              </a:rPr>
              <a:t>HuBERT cluster IDs / VQ-VAE</a:t>
            </a:r>
          </a:p>
        </p:txBody>
      </p:sp>
      <p:cxnSp>
        <p:nvCxnSpPr>
          <p:cNvPr id="300" name="arr1"/>
          <p:cNvCxnSpPr/>
          <p:nvPr/>
        </p:nvCxnSpPr>
        <p:spPr>
          <a:xfrm>
            <a:off x="2711162" y="2045000"/>
            <a:ext cx="838838" cy="525000"/>
          </a:xfrm>
          <a:prstGeom prst="straightConnector1">
            <a:avLst/>
          </a:prstGeom>
          <a:ln w="12700">
            <a:solidFill>
              <a:srgbClr val="595959"/>
            </a:solidFill>
            <a:tailEnd type="triangle" w="med" len="med"/>
          </a:ln>
        </p:spPr>
      </p:cxnSp>
      <p:cxnSp>
        <p:nvCxnSpPr>
          <p:cNvPr id="301" name="arr2"/>
          <p:cNvCxnSpPr/>
          <p:nvPr/>
        </p:nvCxnSpPr>
        <p:spPr>
          <a:xfrm>
            <a:off x="2711162" y="2555000"/>
            <a:ext cx="838838" cy="15000"/>
          </a:xfrm>
          <a:prstGeom prst="straightConnector1">
            <a:avLst/>
          </a:prstGeom>
          <a:ln w="12700">
            <a:solidFill>
              <a:srgbClr val="595959"/>
            </a:solidFill>
            <a:tailEnd type="triangle" w="med" len="med"/>
          </a:ln>
        </p:spPr>
      </p:cxnSp>
      <p:cxnSp>
        <p:nvCxnSpPr>
          <p:cNvPr id="302" name="arr3"/>
          <p:cNvCxnSpPr/>
          <p:nvPr/>
        </p:nvCxnSpPr>
        <p:spPr>
          <a:xfrm flipV="1">
            <a:off x="2711162" y="2570000"/>
            <a:ext cx="838838" cy="495000"/>
          </a:xfrm>
          <a:prstGeom prst="straightConnector1">
            <a:avLst/>
          </a:prstGeom>
          <a:ln w="12700">
            <a:solidFill>
              <a:srgbClr val="595959"/>
            </a:solidFill>
            <a:tailEnd type="triangle" w="med" len="med"/>
          </a:ln>
        </p:spPr>
      </p:cxnSp>
      <p:sp>
        <p:nvSpPr>
          <p:cNvPr id="203" name="Projection"/>
          <p:cNvSpPr/>
          <p:nvPr/>
        </p:nvSpPr>
        <p:spPr>
          <a:xfrm>
            <a:off x="3550000" y="2330000"/>
            <a:ext cx="1750000" cy="450000"/>
          </a:xfrm>
          <a:prstGeom prst="roundRect">
            <a:avLst>
              <a:gd name="adj" fmla="val 16667"/>
            </a:avLst>
          </a:prstGeom>
          <a:solidFill>
            <a:srgbClr val="0065BD"/>
          </a:solidFill>
          <a:ln w="9525">
            <a:solidFill>
              <a:srgbClr val="003B7A"/>
            </a:solidFill>
          </a:ln>
        </p:spPr>
        <p:txBody>
          <a:bodyPr wrap="square" lIns="72000" tIns="36000" rIns="72000" bIns="36000" anchor="ctr"/>
          <a:lstStyle/>
          <a:p>
            <a:pPr marL="0" indent="0" algn="ctr">
              <a:buNone/>
            </a:pPr>
            <a:r>
              <a:rPr lang="en-GB" sz="1200" b="1" dirty="0">
                <a:solidFill>
                  <a:srgbClr val="FFFFFF"/>
                </a:solidFill>
              </a:rPr>
              <a:t>Projection MLP</a:t>
            </a:r>
          </a:p>
          <a:p>
            <a:pPr marL="0" indent="0" algn="ctr">
              <a:buNone/>
            </a:pPr>
            <a:r>
              <a:rPr lang="en-GB" sz="900" i="1" dirty="0">
                <a:solidFill>
                  <a:srgbClr val="CADCFC"/>
                </a:solidFill>
              </a:rPr>
              <a:t>shared representation z</a:t>
            </a:r>
          </a:p>
        </p:txBody>
      </p:sp>
      <p:cxnSp>
        <p:nvCxnSpPr>
          <p:cNvPr id="303" name="arr4"/>
          <p:cNvCxnSpPr/>
          <p:nvPr/>
        </p:nvCxnSpPr>
        <p:spPr>
          <a:xfrm>
            <a:off x="5300000" y="2045000"/>
            <a:ext cx="800000" cy="525000"/>
          </a:xfrm>
          <a:prstGeom prst="straightConnector1">
            <a:avLst/>
          </a:prstGeom>
          <a:ln w="12700">
            <a:solidFill>
              <a:srgbClr val="595959"/>
            </a:solidFill>
            <a:tailEnd type="triangle" w="med" len="med"/>
          </a:ln>
        </p:spPr>
      </p:cxnSp>
      <p:cxnSp>
        <p:nvCxnSpPr>
          <p:cNvPr id="304" name="arr5"/>
          <p:cNvCxnSpPr/>
          <p:nvPr/>
        </p:nvCxnSpPr>
        <p:spPr>
          <a:xfrm>
            <a:off x="5300000" y="2555000"/>
            <a:ext cx="800000" cy="15000"/>
          </a:xfrm>
          <a:prstGeom prst="straightConnector1">
            <a:avLst/>
          </a:prstGeom>
          <a:ln w="12700">
            <a:solidFill>
              <a:srgbClr val="595959"/>
            </a:solidFill>
            <a:tailEnd type="triangle" w="med" len="med"/>
          </a:ln>
        </p:spPr>
      </p:cxnSp>
      <p:cxnSp>
        <p:nvCxnSpPr>
          <p:cNvPr id="305" name="arr6"/>
          <p:cNvCxnSpPr/>
          <p:nvPr/>
        </p:nvCxnSpPr>
        <p:spPr>
          <a:xfrm flipV="1">
            <a:off x="5300000" y="2570000"/>
            <a:ext cx="800000" cy="495000"/>
          </a:xfrm>
          <a:prstGeom prst="straightConnector1">
            <a:avLst/>
          </a:prstGeom>
          <a:ln w="12700">
            <a:solidFill>
              <a:srgbClr val="595959"/>
            </a:solidFill>
            <a:tailEnd type="triangle" w="med" len="med"/>
          </a:ln>
        </p:spPr>
      </p:cxnSp>
      <p:sp>
        <p:nvSpPr>
          <p:cNvPr id="204" name="Head Cold"/>
          <p:cNvSpPr/>
          <p:nvPr/>
        </p:nvSpPr>
        <p:spPr>
          <a:xfrm>
            <a:off x="6100000" y="1820000"/>
            <a:ext cx="2700000" cy="450000"/>
          </a:xfrm>
          <a:prstGeom prst="roundRect">
            <a:avLst>
              <a:gd name="adj" fmla="val 16667"/>
            </a:avLst>
          </a:prstGeom>
          <a:solidFill>
            <a:srgbClr val="EAF3E0"/>
          </a:solidFill>
          <a:ln w="9525">
            <a:solidFill>
              <a:srgbClr val="6B8E23"/>
            </a:solidFill>
          </a:ln>
        </p:spPr>
        <p:txBody>
          <a:bodyPr wrap="square" lIns="72000" tIns="36000" rIns="72000" bIns="36000" anchor="ctr"/>
          <a:lstStyle/>
          <a:p>
            <a:pPr marL="0" indent="0" algn="ctr">
              <a:buNone/>
            </a:pPr>
            <a:r>
              <a:rPr lang="en-GB" sz="1100" b="1" dirty="0">
                <a:solidFill>
                  <a:srgbClr val="3D5A1E"/>
                </a:solidFill>
              </a:rPr>
              <a:t>Cold classifier</a:t>
            </a:r>
          </a:p>
          <a:p>
            <a:pPr marL="0" indent="0" algn="ctr">
              <a:buNone/>
            </a:pPr>
            <a:r>
              <a:rPr lang="en-GB" sz="900" dirty="0">
                <a:solidFill>
                  <a:srgbClr val="595959"/>
                </a:solidFill>
              </a:rPr>
              <a:t>main task — weighted CE</a:t>
            </a:r>
          </a:p>
        </p:txBody>
      </p:sp>
      <p:sp>
        <p:nvSpPr>
          <p:cNvPr id="205" name="Head MDD"/>
          <p:cNvSpPr/>
          <p:nvPr/>
        </p:nvSpPr>
        <p:spPr>
          <a:xfrm>
            <a:off x="6100000" y="2330000"/>
            <a:ext cx="2700000" cy="450000"/>
          </a:xfrm>
          <a:prstGeom prst="roundRect">
            <a:avLst>
              <a:gd name="adj" fmla="val 16667"/>
            </a:avLst>
          </a:prstGeom>
          <a:solidFill>
            <a:srgbClr val="FBE9E7"/>
          </a:solidFill>
          <a:ln w="9525">
            <a:solidFill>
              <a:srgbClr val="C0392B"/>
            </a:solidFill>
          </a:ln>
        </p:spPr>
        <p:txBody>
          <a:bodyPr wrap="square" lIns="72000" tIns="36000" rIns="72000" bIns="36000" anchor="ctr"/>
          <a:lstStyle/>
          <a:p>
            <a:pPr marL="0" indent="0" algn="ctr">
              <a:buNone/>
            </a:pPr>
            <a:r>
              <a:rPr lang="en-GB" sz="1100" b="1" dirty="0">
                <a:solidFill>
                  <a:srgbClr val="7A1F12"/>
                </a:solidFill>
              </a:rPr>
              <a:t>MDD speaker adversary</a:t>
            </a:r>
          </a:p>
          <a:p>
            <a:pPr marL="0" indent="0" algn="ctr">
              <a:buNone/>
            </a:pPr>
            <a:r>
              <a:rPr lang="en-GB" sz="900" dirty="0">
                <a:solidFill>
                  <a:srgbClr val="595959"/>
                </a:solidFill>
              </a:rPr>
              <a:t>gradient reversal — DANN fallback</a:t>
            </a:r>
          </a:p>
        </p:txBody>
      </p:sp>
      <p:sp>
        <p:nvSpPr>
          <p:cNvPr id="206" name="Head OOD"/>
          <p:cNvSpPr/>
          <p:nvPr/>
        </p:nvSpPr>
        <p:spPr>
          <a:xfrm>
            <a:off x="6100000" y="2840000"/>
            <a:ext cx="2700000" cy="450000"/>
          </a:xfrm>
          <a:prstGeom prst="roundRect">
            <a:avLst>
              <a:gd name="adj" fmla="val 16667"/>
            </a:avLst>
          </a:prstGeom>
          <a:solidFill>
            <a:srgbClr val="EAF3E0"/>
          </a:solidFill>
          <a:ln w="9525">
            <a:solidFill>
              <a:srgbClr val="6B8E23"/>
            </a:solidFill>
          </a:ln>
        </p:spPr>
        <p:txBody>
          <a:bodyPr wrap="square" lIns="72000" tIns="36000" rIns="72000" bIns="36000" anchor="ctr"/>
          <a:lstStyle/>
          <a:p>
            <a:pPr marL="0" indent="0" algn="ctr">
              <a:buNone/>
            </a:pPr>
            <a:r>
              <a:rPr lang="en-GB" sz="1100" b="1" dirty="0">
                <a:solidFill>
                  <a:srgbClr val="3D5A1E"/>
                </a:solidFill>
              </a:rPr>
              <a:t>OOD Mahalanobis head</a:t>
            </a:r>
          </a:p>
          <a:p>
            <a:pPr marL="0" indent="0" algn="ctr">
              <a:buNone/>
            </a:pPr>
            <a:r>
              <a:rPr lang="en-GB" sz="900" dirty="0">
                <a:solidFill>
                  <a:srgbClr val="595959"/>
                </a:solidFill>
              </a:rPr>
              <a:t>distance from healthy — aux feature</a:t>
            </a:r>
          </a:p>
        </p:txBody>
      </p:sp>
      <p:sp>
        <p:nvSpPr>
          <p:cNvPr id="400" name="Plan header"/>
          <p:cNvSpPr txBox="1"/>
          <p:nvPr/>
        </p:nvSpPr>
        <p:spPr>
          <a:xfrm>
            <a:off x="311162" y="3450000"/>
            <a:ext cx="8517999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lang="en-GB" sz="1400" b="1" dirty="0">
                <a:solidFill>
                  <a:srgbClr val="0065BD"/>
                </a:solidFill>
              </a:rPr>
              <a:t>The plan — de-confounding stack on top of the fusion</a:t>
            </a:r>
          </a:p>
        </p:txBody>
      </p:sp>
      <p:sp>
        <p:nvSpPr>
          <p:cNvPr id="401" name="Stage 1"/>
          <p:cNvSpPr/>
          <p:nvPr/>
        </p:nvSpPr>
        <p:spPr>
          <a:xfrm>
            <a:off x="311162" y="3800000"/>
            <a:ext cx="1900000" cy="90000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wrap="square" lIns="100000" tIns="80000" rIns="100000" bIns="60000" anchor="t"/>
          <a:lstStyle/>
          <a:p>
            <a:pPr marL="0" indent="0">
              <a:buNone/>
            </a:pPr>
            <a:r>
              <a:rPr lang="en-GB" sz="1000" b="1" dirty="0">
                <a:solidFill>
                  <a:srgbClr val="0065BD"/>
                </a:solidFill>
              </a:rPr>
              <a:t>A2 — Fusion baseline</a:t>
            </a:r>
          </a:p>
          <a:p>
            <a:pPr marL="0" indent="0">
              <a:buNone/>
            </a:pPr>
            <a:r>
              <a:rPr lang="en-GB" sz="900" dirty="0"/>
              <a:t>Frozen WavLM + handcrafted + tokens, late fusion at projection MLP. The honest baseline.</a:t>
            </a:r>
          </a:p>
        </p:txBody>
      </p:sp>
      <p:sp>
        <p:nvSpPr>
          <p:cNvPr id="402" name="Stage 2"/>
          <p:cNvSpPr/>
          <p:nvPr/>
        </p:nvSpPr>
        <p:spPr>
          <a:xfrm>
            <a:off x="2390000" y="3800000"/>
            <a:ext cx="1900000" cy="900000"/>
          </a:xfrm>
          <a:prstGeom prst="roundRect">
            <a:avLst>
              <a:gd name="adj" fmla="val 12500"/>
            </a:avLst>
          </a:prstGeom>
          <a:solidFill>
            <a:srgbClr val="E6F0FA"/>
          </a:solidFill>
          <a:ln w="9525">
            <a:solidFill>
              <a:srgbClr val="0065BD"/>
            </a:solidFill>
          </a:ln>
        </p:spPr>
        <p:txBody>
          <a:bodyPr wrap="square" lIns="100000" tIns="80000" rIns="100000" bIns="60000" anchor="t"/>
          <a:lstStyle/>
          <a:p>
            <a:pPr marL="0" indent="0">
              <a:buNone/>
            </a:pPr>
            <a:r>
              <a:rPr lang="en-GB" sz="1000" b="1" dirty="0">
                <a:solidFill>
                  <a:srgbClr val="0065BD"/>
                </a:solidFill>
              </a:rPr>
              <a:t>A5.5 — Data-level</a:t>
            </a:r>
          </a:p>
          <a:p>
            <a:pPr marL="0" indent="0">
              <a:buNone/>
            </a:pPr>
            <a:r>
              <a:rPr lang="en-GB" sz="900" b="1" dirty="0"/>
              <a:t>Cross-speaker splicing.</a:t>
            </a:r>
          </a:p>
          <a:p>
            <a:pPr marL="0" indent="0">
              <a:buNone/>
            </a:pPr>
            <a:r>
              <a:rPr lang="en-GB" sz="900" dirty="0"/>
              <a:t>Symmetric across classes so splice presence is uncorrelated with the label.</a:t>
            </a:r>
          </a:p>
        </p:txBody>
      </p:sp>
      <p:sp>
        <p:nvSpPr>
          <p:cNvPr id="403" name="Stage 3"/>
          <p:cNvSpPr/>
          <p:nvPr/>
        </p:nvSpPr>
        <p:spPr>
          <a:xfrm>
            <a:off x="4470000" y="3800000"/>
            <a:ext cx="1900000" cy="900000"/>
          </a:xfrm>
          <a:prstGeom prst="roundRect">
            <a:avLst>
              <a:gd name="adj" fmla="val 12500"/>
            </a:avLst>
          </a:prstGeom>
          <a:solidFill>
            <a:srgbClr val="E6F0FA"/>
          </a:solidFill>
          <a:ln w="9525">
            <a:solidFill>
              <a:srgbClr val="0065BD"/>
            </a:solidFill>
          </a:ln>
        </p:spPr>
        <p:txBody>
          <a:bodyPr wrap="square" lIns="100000" tIns="80000" rIns="100000" bIns="60000" anchor="t"/>
          <a:lstStyle/>
          <a:p>
            <a:pPr marL="0" indent="0">
              <a:buNone/>
            </a:pPr>
            <a:r>
              <a:rPr lang="en-GB" sz="1000" b="1" dirty="0">
                <a:solidFill>
                  <a:srgbClr val="0065BD"/>
                </a:solidFill>
              </a:rPr>
              <a:t>A6 — Representation-level</a:t>
            </a:r>
          </a:p>
          <a:p>
            <a:pPr marL="0" indent="0">
              <a:buNone/>
            </a:pPr>
            <a:r>
              <a:rPr lang="en-GB" sz="900" b="1" dirty="0"/>
              <a:t>Speaker-masked contrastive pretraining.</a:t>
            </a:r>
          </a:p>
          <a:p>
            <a:pPr marL="0" indent="0">
              <a:buNone/>
            </a:pPr>
            <a:r>
              <a:rPr lang="en-GB" sz="900" dirty="0"/>
              <a:t>Same-class different-speaker positives.</a:t>
            </a:r>
          </a:p>
        </p:txBody>
      </p:sp>
      <p:sp>
        <p:nvSpPr>
          <p:cNvPr id="404" name="Stage 4"/>
          <p:cNvSpPr/>
          <p:nvPr/>
        </p:nvSpPr>
        <p:spPr>
          <a:xfrm>
            <a:off x="6550000" y="3800000"/>
            <a:ext cx="2278161" cy="900000"/>
          </a:xfrm>
          <a:prstGeom prst="roundRect">
            <a:avLst>
              <a:gd name="adj" fmla="val 12500"/>
            </a:avLst>
          </a:prstGeom>
          <a:solidFill>
            <a:srgbClr val="FBE9E7"/>
          </a:solidFill>
          <a:ln w="9525">
            <a:solidFill>
              <a:srgbClr val="C0392B"/>
            </a:solidFill>
          </a:ln>
        </p:spPr>
        <p:txBody>
          <a:bodyPr wrap="square" lIns="100000" tIns="80000" rIns="100000" bIns="60000" anchor="t"/>
          <a:lstStyle/>
          <a:p>
            <a:pPr marL="0" indent="0">
              <a:buNone/>
            </a:pPr>
            <a:r>
              <a:rPr lang="en-GB" sz="1000" b="1" dirty="0">
                <a:solidFill>
                  <a:srgbClr val="7A1F12"/>
                </a:solidFill>
              </a:rPr>
              <a:t>A7 — Gradient-level</a:t>
            </a:r>
          </a:p>
          <a:p>
            <a:pPr marL="0" indent="0">
              <a:buNone/>
            </a:pPr>
            <a:r>
              <a:rPr lang="en-GB" sz="900" b="1" dirty="0"/>
              <a:t>MDD speaker adversary (DANN fallback).</a:t>
            </a:r>
          </a:p>
          <a:p>
            <a:pPr marL="0" indent="0">
              <a:buNone/>
            </a:pPr>
            <a:r>
              <a:rPr lang="en-GB" sz="900" dirty="0"/>
              <a:t>Gradient-reversed; ramped λ. The main contribution.</a:t>
            </a:r>
          </a:p>
        </p:txBody>
      </p:sp>
      <p:cxnSp>
        <p:nvCxnSpPr>
          <p:cNvPr id="500" name="ladder1"/>
          <p:cNvCxnSpPr/>
          <p:nvPr/>
        </p:nvCxnSpPr>
        <p:spPr>
          <a:xfrm>
            <a:off x="2211162" y="4220000"/>
            <a:ext cx="178838" cy="0"/>
          </a:xfrm>
          <a:prstGeom prst="straightConnector1">
            <a:avLst/>
          </a:prstGeom>
          <a:ln w="15875">
            <a:solidFill>
              <a:srgbClr val="0065BD"/>
            </a:solidFill>
            <a:tailEnd type="triangle" w="med" len="med"/>
          </a:ln>
        </p:spPr>
      </p:cxnSp>
      <p:cxnSp>
        <p:nvCxnSpPr>
          <p:cNvPr id="501" name="ladder2"/>
          <p:cNvCxnSpPr/>
          <p:nvPr/>
        </p:nvCxnSpPr>
        <p:spPr>
          <a:xfrm>
            <a:off x="4290000" y="4220000"/>
            <a:ext cx="180000" cy="0"/>
          </a:xfrm>
          <a:prstGeom prst="straightConnector1">
            <a:avLst/>
          </a:prstGeom>
          <a:ln w="15875">
            <a:solidFill>
              <a:srgbClr val="0065BD"/>
            </a:solidFill>
            <a:tailEnd type="triangle" w="med" len="med"/>
          </a:ln>
        </p:spPr>
      </p:cxnSp>
      <p:cxnSp>
        <p:nvCxnSpPr>
          <p:cNvPr id="502" name="ladder3"/>
          <p:cNvCxnSpPr/>
          <p:nvPr/>
        </p:nvCxnSpPr>
        <p:spPr>
          <a:xfrm>
            <a:off x="6370000" y="4220000"/>
            <a:ext cx="180000" cy="0"/>
          </a:xfrm>
          <a:prstGeom prst="straightConnector1">
            <a:avLst/>
          </a:prstGeom>
          <a:ln w="15875">
            <a:solidFill>
              <a:srgbClr val="0065BD"/>
            </a:solidFill>
            <a:tailEnd type="triangle" w="med" len="med"/>
          </a:ln>
        </p:spPr>
      </p:cxnSp>
      <p:sp>
        <p:nvSpPr>
          <p:cNvPr id="600" name="Slide Numb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01" name="Footer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 dirty="0"/>
              <a:t>Dr. rer. nat. Erika Mustermann (TUM) | </a:t>
            </a:r>
            <a:r>
              <a:rPr lang="en-GB" dirty="0"/>
              <a:t>Christoph Feldkircher | ML4Health SS26 | URTIC Cold Detection</a:t>
            </a:r>
          </a:p>
        </p:txBody>
      </p:sp>
    </p:spTree>
    <p:extLst>
      <p:ext uri="{BB962C8B-B14F-4D97-AF65-F5344CB8AC3E}">
        <p14:creationId xmlns:p14="http://schemas.microsoft.com/office/powerpoint/2010/main" val="442079279"/>
      </p:ext>
    </p:extLst>
  </p:cSld>
  <p:clrMapOvr>
    <a:masterClrMapping/>
  </p:clrMapOvr>
</p:sld>
</file>

<file path=ppt/theme/theme1.xml><?xml version="1.0" encoding="utf-8"?>
<a:theme xmlns:a="http://schemas.openxmlformats.org/drawingml/2006/main" name="Titel 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F39E7027-915F-7341-A9EA-C8CBFD2E8FA2}"/>
    </a:ext>
  </a:extLst>
</a:theme>
</file>

<file path=ppt/theme/theme2.xml><?xml version="1.0" encoding="utf-8"?>
<a:theme xmlns:a="http://schemas.openxmlformats.org/drawingml/2006/main" name="Title 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BD7862EB-E8D6-994B-BBF4-6CC3FFF92DD2}"/>
    </a:ext>
  </a:extLst>
</a:theme>
</file>

<file path=ppt/theme/theme4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16AD8073-F55B-9144-802C-46456E9E217B}"/>
    </a:ext>
  </a:extLst>
</a:theme>
</file>

<file path=ppt/theme/theme5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741D405E-8307-9B40-9F97-3F5DAC837EF3}"/>
    </a:ext>
  </a:extLst>
</a:theme>
</file>

<file path=ppt/theme/theme6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4BFAB656-7532-6C41-9541-858AFF7D6765}"/>
    </a:ext>
  </a:extLst>
</a:theme>
</file>

<file path=ppt/theme/theme7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2" id="{F266FCC4-7D6D-1F4C-B467-8A21D017BCEF}" vid="{A724F04A-1212-AA4C-B6F1-157BE88DDFD7}"/>
    </a:ext>
  </a:extLst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TUM_Praesentation_p_v1_16-9 (5)</Template>
  <TotalTime>263</TotalTime>
  <Words>216</Words>
  <Application>Microsoft Macintosh PowerPoint</Application>
  <PresentationFormat>On-screen Show (16:9)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</vt:i4>
      </vt:variant>
    </vt:vector>
  </HeadingPairs>
  <TitlesOfParts>
    <vt:vector size="13" baseType="lpstr">
      <vt:lpstr>Arial</vt:lpstr>
      <vt:lpstr>Calibri</vt:lpstr>
      <vt:lpstr>Courier New</vt:lpstr>
      <vt:lpstr>Symbol</vt:lpstr>
      <vt:lpstr>Wingdings</vt:lpstr>
      <vt:lpstr>Titel 1</vt:lpstr>
      <vt:lpstr>Title Blank</vt:lpstr>
      <vt:lpstr>Titel 2</vt:lpstr>
      <vt:lpstr>Titel 3</vt:lpstr>
      <vt:lpstr>Inhalt</vt:lpstr>
      <vt:lpstr>Kapiteltrenner blau</vt:lpstr>
      <vt:lpstr>Kapiteltrenner schwarz</vt:lpstr>
      <vt:lpstr>URTIC Cold Detection — Modernising the 2017 Fusion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 Tian</dc:creator>
  <cp:lastModifiedBy>Christoph Feldkircher</cp:lastModifiedBy>
  <cp:revision>11</cp:revision>
  <cp:lastPrinted>2015-07-30T14:04:45Z</cp:lastPrinted>
  <dcterms:created xsi:type="dcterms:W3CDTF">2020-10-03T23:03:33Z</dcterms:created>
  <dcterms:modified xsi:type="dcterms:W3CDTF">2026-04-27T20:36:54Z</dcterms:modified>
</cp:coreProperties>
</file>